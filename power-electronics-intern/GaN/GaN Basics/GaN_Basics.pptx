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cab4c84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cab4c84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caed311c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caed311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caed311c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caed311c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aed311c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caed311c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caed311c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caed311c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caed311c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caed311c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aed311c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caed311c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cd2377a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cd2377a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cd2377a1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cd2377a1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cd2377a1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cd2377a1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d2377a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cd2377a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d2377a1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cd2377a1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cd2377a1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cd2377a1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cd2377a1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cd2377a1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ce8af88a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ce8af88a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ab4c84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cab4c84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8abf4f0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8abf4f0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8abf4f0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8abf4f0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8abf4f0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8abf4f0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8abf4f0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8abf4f0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e8af88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ce8af8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ce8af88a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ce8af88a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ce8af88a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ce8af88a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ti.com/product/LMG3100R017" TargetMode="External"/><Relationship Id="rId4" Type="http://schemas.openxmlformats.org/officeDocument/2006/relationships/hyperlink" Target="https://www.ti.com/lit/ds/symlink/lmg3100r017.pdf?ts=1780359936031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using SiC, GaN over Si mosfets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171425" y="1017725"/>
            <a:ext cx="49995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Better Dielectric Breakdown Field Intensity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More Band Gap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Better Heat Conductivity</a:t>
            </a:r>
            <a:br>
              <a:rPr lang="en-GB"/>
            </a:b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50" y="2088950"/>
            <a:ext cx="5569345" cy="26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655375" y="2474350"/>
            <a:ext cx="248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In Power Applications, we are in need of High </a:t>
            </a:r>
            <a:r>
              <a:rPr b="1" lang="en-GB" sz="1800">
                <a:solidFill>
                  <a:srgbClr val="FF0000"/>
                </a:solidFill>
              </a:rPr>
              <a:t>Vds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increase </a:t>
            </a:r>
            <a:r>
              <a:rPr lang="en-GB">
                <a:solidFill>
                  <a:srgbClr val="FF0000"/>
                </a:solidFill>
              </a:rPr>
              <a:t>Vds </a:t>
            </a:r>
            <a:r>
              <a:rPr lang="en-GB"/>
              <a:t>- increase the drift region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72" y="1435650"/>
            <a:ext cx="3276126" cy="313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1547" y="912950"/>
            <a:ext cx="312075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4184475" y="2542938"/>
            <a:ext cx="1122300" cy="56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Consequence of increased Drift Region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01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resistance between Drain and Source is increased so the loss is increased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75" y="1498450"/>
            <a:ext cx="4277484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787525" y="3975150"/>
            <a:ext cx="42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This is where SiC and Gan MOSFETs are coming into play.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799" y="1392150"/>
            <a:ext cx="3964501" cy="23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Drift Region of Si Mosfets compared to SiC,GaN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925" y="1017725"/>
            <a:ext cx="3097700" cy="402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100" y="1427300"/>
            <a:ext cx="3697675" cy="27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554738" y="4321325"/>
            <a:ext cx="32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Drift Region Small -&gt; Rds low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Switching Frequency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50" y="1207500"/>
            <a:ext cx="7967650" cy="27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661225" y="3841650"/>
            <a:ext cx="638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Switching Frequency is </a:t>
            </a:r>
            <a:r>
              <a:rPr b="1" lang="en-GB" sz="1800"/>
              <a:t>proportional</a:t>
            </a:r>
            <a:r>
              <a:rPr lang="en-GB" sz="1800">
                <a:solidFill>
                  <a:schemeClr val="dk1"/>
                </a:solidFill>
              </a:rPr>
              <a:t> to Switching Loss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Comparison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325"/>
            <a:ext cx="4258550" cy="243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995" y="0"/>
            <a:ext cx="420495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683" y="0"/>
            <a:ext cx="846463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375" y="178313"/>
            <a:ext cx="6852076" cy="478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1438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Precautionary measures for </a:t>
            </a:r>
            <a:r>
              <a:rPr lang="en-GB"/>
              <a:t>driving</a:t>
            </a:r>
            <a:r>
              <a:rPr lang="en-GB"/>
              <a:t> GaN transistors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71400" y="1157275"/>
            <a:ext cx="5538900" cy="3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378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➔"/>
            </a:pPr>
            <a:r>
              <a:rPr lang="en-GB" sz="6626">
                <a:solidFill>
                  <a:srgbClr val="FF0000"/>
                </a:solidFill>
              </a:rPr>
              <a:t>Do Not Exceed Gate Voltage Limits</a:t>
            </a:r>
            <a:endParaRPr sz="6626">
              <a:solidFill>
                <a:srgbClr val="FF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6226">
                <a:solidFill>
                  <a:schemeClr val="dk1"/>
                </a:solidFill>
              </a:rPr>
              <a:t>Use a regulated gate driver.</a:t>
            </a:r>
            <a:endParaRPr sz="6226">
              <a:solidFill>
                <a:schemeClr val="dk1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◆"/>
            </a:pPr>
            <a:r>
              <a:rPr lang="en-GB" sz="6226">
                <a:solidFill>
                  <a:schemeClr val="dk1"/>
                </a:solidFill>
              </a:rPr>
              <a:t>Prevent gate overshoot.</a:t>
            </a:r>
            <a:endParaRPr sz="6226">
              <a:solidFill>
                <a:schemeClr val="dk1"/>
              </a:solidFill>
            </a:endParaRPr>
          </a:p>
          <a:p>
            <a:pPr indent="-33378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➔"/>
            </a:pPr>
            <a:r>
              <a:rPr lang="en-GB" sz="6626">
                <a:solidFill>
                  <a:srgbClr val="FF0000"/>
                </a:solidFill>
              </a:rPr>
              <a:t>Minimize Gate Loop Inductance</a:t>
            </a:r>
            <a:endParaRPr sz="6626">
              <a:solidFill>
                <a:srgbClr val="FF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Place driver very close to GaN.</a:t>
            </a:r>
            <a:endParaRPr sz="6226">
              <a:solidFill>
                <a:srgbClr val="00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Use short and wide PCB traces</a:t>
            </a:r>
            <a:endParaRPr sz="6226">
              <a:solidFill>
                <a:srgbClr val="000000"/>
              </a:solidFill>
            </a:endParaRPr>
          </a:p>
          <a:p>
            <a:pPr indent="-33378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➔"/>
            </a:pPr>
            <a:r>
              <a:rPr lang="en-GB" sz="6626">
                <a:solidFill>
                  <a:srgbClr val="FF0000"/>
                </a:solidFill>
              </a:rPr>
              <a:t>Use Kelvin Source Connection</a:t>
            </a:r>
            <a:endParaRPr sz="6626">
              <a:solidFill>
                <a:srgbClr val="FF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Reduces ground bounce.</a:t>
            </a:r>
            <a:endParaRPr sz="6226">
              <a:solidFill>
                <a:srgbClr val="00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Accurate VGS control.</a:t>
            </a:r>
            <a:endParaRPr sz="6226">
              <a:solidFill>
                <a:srgbClr val="00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Prevents false triggering.</a:t>
            </a:r>
            <a:endParaRPr sz="6226">
              <a:solidFill>
                <a:srgbClr val="000000"/>
              </a:solidFill>
            </a:endParaRPr>
          </a:p>
          <a:p>
            <a:pPr indent="-33378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➔"/>
            </a:pPr>
            <a:r>
              <a:rPr lang="en-GB" sz="6626">
                <a:solidFill>
                  <a:srgbClr val="FF0000"/>
                </a:solidFill>
              </a:rPr>
              <a:t>Properly Select Gate Resistance </a:t>
            </a:r>
            <a:endParaRPr sz="6626">
              <a:solidFill>
                <a:srgbClr val="FF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Switching speed</a:t>
            </a:r>
            <a:endParaRPr sz="6226">
              <a:solidFill>
                <a:srgbClr val="00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Overshoot</a:t>
            </a:r>
            <a:endParaRPr sz="6226">
              <a:solidFill>
                <a:srgbClr val="00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Ringing</a:t>
            </a:r>
            <a:endParaRPr sz="6226">
              <a:solidFill>
                <a:srgbClr val="000000"/>
              </a:solidFill>
            </a:endParaRPr>
          </a:p>
          <a:p>
            <a:pPr indent="-327437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◆"/>
            </a:pPr>
            <a:r>
              <a:rPr lang="en-GB" sz="6226">
                <a:solidFill>
                  <a:srgbClr val="000000"/>
                </a:solidFill>
              </a:rPr>
              <a:t>EMI</a:t>
            </a:r>
            <a:endParaRPr sz="6226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25" y="758875"/>
            <a:ext cx="5141449" cy="440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430550" y="189800"/>
            <a:ext cx="359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Parasitic Capacitance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5680500" y="1407425"/>
            <a:ext cx="2666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2 loops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-GB" sz="1800">
                <a:solidFill>
                  <a:srgbClr val="FF0000"/>
                </a:solidFill>
              </a:rPr>
              <a:t>Gate Loop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-GB" sz="1800">
                <a:solidFill>
                  <a:srgbClr val="38761D"/>
                </a:solidFill>
              </a:rPr>
              <a:t>Power Loop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5773100" y="3273125"/>
            <a:ext cx="33102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Dangerous inductance called </a:t>
            </a:r>
            <a:r>
              <a:rPr b="1" lang="en-GB" sz="1800">
                <a:solidFill>
                  <a:schemeClr val="dk1"/>
                </a:solidFill>
              </a:rPr>
              <a:t>Common Source Inductance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3" name="Google Shape;133;p24"/>
          <p:cNvCxnSpPr>
            <a:stCxn id="132" idx="1"/>
          </p:cNvCxnSpPr>
          <p:nvPr/>
        </p:nvCxnSpPr>
        <p:spPr>
          <a:xfrm rot="10800000">
            <a:off x="5189900" y="3634325"/>
            <a:ext cx="5832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23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820">
                <a:solidFill>
                  <a:srgbClr val="FF0000"/>
                </a:solidFill>
              </a:rPr>
              <a:t>Gate Loop</a:t>
            </a:r>
            <a:endParaRPr b="1" sz="2820">
              <a:solidFill>
                <a:srgbClr val="FF0000"/>
              </a:solidFill>
            </a:endParaRPr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441325" y="1008975"/>
            <a:ext cx="185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Driver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↓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↓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Source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↓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Driver Ground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2319425" y="680150"/>
            <a:ext cx="49536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Gate Current changes rapidly, even though the current is small than power current.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Here switching is extremely fast.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Thus it can still create ringing.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Large gate loop -&gt; Overshoot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2430525" y="2796250"/>
            <a:ext cx="4189800" cy="1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Layout Rule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Driver must be </a:t>
            </a:r>
            <a:r>
              <a:rPr lang="en-GB" sz="1800">
                <a:solidFill>
                  <a:srgbClr val="FF0000"/>
                </a:solidFill>
              </a:rPr>
              <a:t>placed close to the GaN.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975" y="1643450"/>
            <a:ext cx="2662399" cy="22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44100" y="19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22">
                <a:solidFill>
                  <a:srgbClr val="38761D"/>
                </a:solidFill>
              </a:rPr>
              <a:t>Power Loop</a:t>
            </a:r>
            <a:r>
              <a:rPr lang="en-GB">
                <a:solidFill>
                  <a:srgbClr val="38761D"/>
                </a:solidFill>
              </a:rPr>
              <a:t> 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 Capacitor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High-side GaN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Switch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Low-side GaN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Back to Capacitor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3050900" y="952175"/>
            <a:ext cx="487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Every PCB Trace has inductance. So if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power loop is large  – large Inductance(L</a:t>
            </a:r>
            <a:r>
              <a:rPr lang="en-GB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large Inductance(L) -&gt; </a:t>
            </a:r>
            <a:r>
              <a:rPr lang="en-GB" sz="1800">
                <a:solidFill>
                  <a:schemeClr val="dk1"/>
                </a:solidFill>
              </a:rPr>
              <a:t>Voltage overshoot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3050900" y="2328325"/>
            <a:ext cx="3782400" cy="17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Layout Rule</a:t>
            </a:r>
            <a:endParaRPr sz="18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38761D"/>
                </a:solidFill>
              </a:rPr>
              <a:t>Put the DC-link capacitor extremely close to the half-bridge.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850" y="2120000"/>
            <a:ext cx="2354925" cy="20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30225" y="31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Source Inductance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569425" y="990750"/>
            <a:ext cx="7764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The same source connection is used by both the loops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Power loop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Gate Loop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Suppose the power current </a:t>
            </a:r>
            <a:r>
              <a:rPr lang="en-GB" sz="1800">
                <a:solidFill>
                  <a:schemeClr val="dk1"/>
                </a:solidFill>
              </a:rPr>
              <a:t>changes</a:t>
            </a:r>
            <a:r>
              <a:rPr lang="en-GB" sz="1800">
                <a:solidFill>
                  <a:schemeClr val="dk1"/>
                </a:solidFill>
              </a:rPr>
              <a:t> dI = 20A then due to source inductance the source node moves like </a:t>
            </a:r>
            <a:r>
              <a:rPr lang="en-GB" sz="1800">
                <a:solidFill>
                  <a:schemeClr val="dk1"/>
                </a:solidFill>
              </a:rPr>
              <a:t>maybe</a:t>
            </a:r>
            <a:r>
              <a:rPr lang="en-GB" sz="1800">
                <a:solidFill>
                  <a:schemeClr val="dk1"/>
                </a:solidFill>
              </a:rPr>
              <a:t> to +2V for a few ns.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But the gate driver is measuring Vgs.</a:t>
            </a:r>
            <a:br>
              <a:rPr lang="en-GB" sz="1800">
                <a:solidFill>
                  <a:schemeClr val="dk1"/>
                </a:solidFill>
              </a:rPr>
            </a:b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This is the root cause of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GB" sz="1800">
                <a:solidFill>
                  <a:schemeClr val="dk1"/>
                </a:solidFill>
              </a:rPr>
              <a:t>Ground bounce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GB" sz="1800">
                <a:solidFill>
                  <a:schemeClr val="dk1"/>
                </a:solidFill>
              </a:rPr>
              <a:t>False turn-on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GB" sz="1800">
                <a:solidFill>
                  <a:schemeClr val="dk1"/>
                </a:solidFill>
              </a:rPr>
              <a:t>False turn-off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❏"/>
            </a:pPr>
            <a:r>
              <a:rPr lang="en-GB" sz="1800">
                <a:solidFill>
                  <a:schemeClr val="dk1"/>
                </a:solidFill>
              </a:rPr>
              <a:t>Gate ringing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20"/>
              <a:t>                 </a:t>
            </a:r>
            <a:r>
              <a:rPr lang="en-GB" sz="4120"/>
              <a:t>L</a:t>
            </a:r>
            <a:r>
              <a:rPr lang="en-GB" sz="4120"/>
              <a:t>MG3100R017</a:t>
            </a:r>
            <a:endParaRPr sz="4120"/>
          </a:p>
        </p:txBody>
      </p:sp>
      <p:sp>
        <p:nvSpPr>
          <p:cNvPr id="162" name="Google Shape;162;p28"/>
          <p:cNvSpPr txBox="1"/>
          <p:nvPr>
            <p:ph idx="4294967295" type="subTitle"/>
          </p:nvPr>
        </p:nvSpPr>
        <p:spPr>
          <a:xfrm>
            <a:off x="494925" y="3462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https://www.ti.com/product/LMG3100R017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https://www.ti.com/lit/ds/symlink/lmg3100r017.pdf?ts=1780359936031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500" y="110700"/>
            <a:ext cx="5924099" cy="49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404" y="0"/>
            <a:ext cx="68411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612" y="0"/>
            <a:ext cx="763077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Description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Driver and GaN are co-packaged</a:t>
            </a:r>
            <a:r>
              <a:rPr lang="en-GB" sz="1600">
                <a:solidFill>
                  <a:schemeClr val="dk1"/>
                </a:solidFill>
              </a:rPr>
              <a:t> → very low common source inductance.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Bootstrap clamp</a:t>
            </a:r>
            <a:r>
              <a:rPr lang="en-GB" sz="1600">
                <a:solidFill>
                  <a:schemeClr val="dk1"/>
                </a:solidFill>
              </a:rPr>
              <a:t> protects the GaN gate from excessive VGS.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Two UVLO protections</a:t>
            </a:r>
            <a:r>
              <a:rPr lang="en-GB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VCC UVLO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HB-HS UVLO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Below UVLO, HI and LI are ignored.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Driver actively pulls the gate low during undervoltage conditions.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200 mV hysteresis prevents chattering.</a:t>
            </a:r>
            <a:endParaRPr sz="16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600">
                <a:solidFill>
                  <a:schemeClr val="dk1"/>
                </a:solidFill>
              </a:rPr>
              <a:t>Keep bypass and bootstrap capacitors extremely close to the device to minimize parasitic inductance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Control Inputs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Supports Both 3.3V and 5V Logic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HI and LI are Independently Controlled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No Overlap (Shoot-Through) Protection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Designer Must Add Deadtime</a:t>
            </a:r>
            <a:r>
              <a:rPr lang="en-GB"/>
              <a:t>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261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Supply Recommendations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501700" y="924900"/>
            <a:ext cx="8585400" cy="42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VCC Supply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Recommended operating range: </a:t>
            </a:r>
            <a:r>
              <a:rPr b="1" lang="en-GB" sz="1500">
                <a:solidFill>
                  <a:schemeClr val="dk1"/>
                </a:solidFill>
              </a:rPr>
              <a:t>4.75V to 5.25V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Absolute maximum: </a:t>
            </a:r>
            <a:r>
              <a:rPr b="1" lang="en-GB" sz="1500">
                <a:solidFill>
                  <a:schemeClr val="dk1"/>
                </a:solidFill>
              </a:rPr>
              <a:t>6V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Low-side gate is not internally clamped, so VCC must stay within range.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UVLO Hysteresis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Prevents repeated ON/OFF operation due to supply ripple.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Device continues operating until VCC drops below the UVLO threshold minus hysteresis.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VCC Bypass Capacitors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Place between </a:t>
            </a:r>
            <a:r>
              <a:rPr b="1" lang="en-GB" sz="1500">
                <a:solidFill>
                  <a:schemeClr val="dk1"/>
                </a:solidFill>
              </a:rPr>
              <a:t>VCC and AGND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100 nF ceramic</a:t>
            </a:r>
            <a:r>
              <a:rPr lang="en-GB" sz="1500">
                <a:solidFill>
                  <a:schemeClr val="dk1"/>
                </a:solidFill>
              </a:rPr>
              <a:t> → high-frequency filtering.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220 nF to 10 µF ceramic</a:t>
            </a:r>
            <a:r>
              <a:rPr lang="en-GB" sz="1500">
                <a:solidFill>
                  <a:schemeClr val="dk1"/>
                </a:solidFill>
              </a:rPr>
              <a:t> → energy storage for driver operation.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Layout</a:t>
            </a:r>
            <a:r>
              <a:rPr lang="en-GB"/>
              <a:t>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152475"/>
            <a:ext cx="8618400" cy="3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Keep the power loop area as small as possible.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Place the return current path directly below the forward current path.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Opposite current directions cause magnetic flux cancellation, which leads to less loop inductance.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Place Cvcc and Cboot as close to the GaN FET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GB" sz="2200">
                <a:solidFill>
                  <a:schemeClr val="dk1"/>
                </a:solidFill>
              </a:rPr>
              <a:t>AGND is the logic/driver reference ground. </a:t>
            </a:r>
            <a:endParaRPr sz="22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2200">
                <a:solidFill>
                  <a:schemeClr val="dk1"/>
                </a:solidFill>
              </a:rPr>
              <a:t>Never directly connect AGND to PGND near the IC because PGND noise can couple into HI and LI and cause unwanted switching.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174" y="0"/>
            <a:ext cx="48916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