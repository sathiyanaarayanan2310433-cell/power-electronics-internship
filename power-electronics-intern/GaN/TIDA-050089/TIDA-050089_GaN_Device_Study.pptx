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edab2044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edab2044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ef4073dbf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ef4073dbf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ef4073dbf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ef4073dbf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ef4073dbf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ef4073dbf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4073dbf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ef4073dbf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15d444f1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15d444f1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15d444f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15d444f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15d444f1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15d444f1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15d444f1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15d444f1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15d444f1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15d444f1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15d444f1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15d444f1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15d444f1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15d444f1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15d444f1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15d444f1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15d444f1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15d444f1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d444f1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15d444f1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de45ed2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de45ed2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15d444f1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15d444f1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e45ed2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de45ed2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e45ed2e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de45ed2e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ti.com/tool/TIDA-050089" TargetMode="External"/><Relationship Id="rId4" Type="http://schemas.openxmlformats.org/officeDocument/2006/relationships/hyperlink" Target="https://www.ti.com/lit/ug/tiduff3/tiduff3.pdf?ts=1781059229176" TargetMode="External"/><Relationship Id="rId5" Type="http://schemas.openxmlformats.org/officeDocument/2006/relationships/hyperlink" Target="https://www.ti.com/lit/df/slvrbw5/slvrbw5.pdf?ts=1781090889314" TargetMode="External"/><Relationship Id="rId6" Type="http://schemas.openxmlformats.org/officeDocument/2006/relationships/hyperlink" Target="https://www.ti.com/lit/df/slurb62/slurb62.pdf?ts=178109089452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TIDA-050089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https://www.ti.com/tool/TIDA-050089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https://www.ti.com/lit/ug/tiduff3/tiduff3.pdf?ts=1781059229176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https://www.ti.com/lit/df/slvrbw5/slvrbw5.pdf?ts=1781090889314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https://www.ti.com/lit/df/slurb62/slurb62.pdf?ts=1781090894525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:       48V                   12V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3812875" y="519425"/>
            <a:ext cx="863700" cy="42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00" y="1275077"/>
            <a:ext cx="7314874" cy="32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70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Block Diagram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049" y="742875"/>
            <a:ext cx="7036899" cy="41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TPSM365R6V5(</a:t>
            </a:r>
            <a:r>
              <a:rPr b="1" lang="en"/>
              <a:t>BUCK</a:t>
            </a:r>
            <a:r>
              <a:rPr lang="en"/>
              <a:t>)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Function </a:t>
            </a:r>
            <a:r>
              <a:rPr lang="en">
                <a:solidFill>
                  <a:schemeClr val="dk1"/>
                </a:solidFill>
              </a:rPr>
              <a:t>: 48V → 5V auxiliary buck power module.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Generates the </a:t>
            </a:r>
            <a:r>
              <a:rPr b="1" lang="en">
                <a:solidFill>
                  <a:schemeClr val="dk1"/>
                </a:solidFill>
              </a:rPr>
              <a:t>5V bias supply</a:t>
            </a:r>
            <a:r>
              <a:rPr lang="en">
                <a:solidFill>
                  <a:schemeClr val="dk1"/>
                </a:solidFill>
              </a:rPr>
              <a:t> for the control circuitry.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external compensation design required. </a:t>
            </a:r>
            <a:r>
              <a:rPr lang="en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411750" y="2706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TPS7A2(</a:t>
            </a:r>
            <a:r>
              <a:rPr b="1" lang="en"/>
              <a:t>LDO)</a:t>
            </a:r>
            <a:r>
              <a:rPr lang="en"/>
              <a:t> 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568800" y="3279225"/>
            <a:ext cx="8520600" cy="17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Function </a:t>
            </a:r>
            <a:r>
              <a:rPr lang="en">
                <a:solidFill>
                  <a:schemeClr val="dk1"/>
                </a:solidFill>
              </a:rPr>
              <a:t>: Linear Dropout Regulator</a:t>
            </a:r>
            <a:endParaRPr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>
                <a:solidFill>
                  <a:schemeClr val="dk1"/>
                </a:solidFill>
              </a:rPr>
              <a:t>Converts </a:t>
            </a:r>
            <a:r>
              <a:rPr b="1" lang="en">
                <a:solidFill>
                  <a:schemeClr val="dk1"/>
                </a:solidFill>
              </a:rPr>
              <a:t>5V → 3.3V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>
                <a:solidFill>
                  <a:schemeClr val="dk1"/>
                </a:solidFill>
              </a:rPr>
              <a:t>Provides a clean, low-noise supply for sensitive control electronics.</a:t>
            </a:r>
            <a:endParaRPr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">
                <a:solidFill>
                  <a:schemeClr val="dk1"/>
                </a:solidFill>
              </a:rPr>
              <a:t>Used to power UCD3138A, INA241, and TMP6131</a:t>
            </a:r>
            <a:r>
              <a:rPr lang="en" sz="2500">
                <a:solidFill>
                  <a:schemeClr val="dk1"/>
                </a:solidFill>
              </a:rPr>
              <a:t> </a:t>
            </a:r>
            <a:r>
              <a:rPr lang="en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11750" y="357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TLV431 </a:t>
            </a:r>
            <a:r>
              <a:rPr lang="en"/>
              <a:t> 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11750" y="929975"/>
            <a:ext cx="8732400" cy="15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Function </a:t>
            </a:r>
            <a:r>
              <a:rPr lang="en">
                <a:solidFill>
                  <a:schemeClr val="dk1"/>
                </a:solidFill>
              </a:rPr>
              <a:t>: Precision adjustable shunt reference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Generates a stable </a:t>
            </a:r>
            <a:r>
              <a:rPr b="1" lang="en">
                <a:solidFill>
                  <a:schemeClr val="dk1"/>
                </a:solidFill>
              </a:rPr>
              <a:t>1.24V reference voltage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as the reference for INA241 current sensing.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Enables bidirectional current measurement (buck and boost operation).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411750" y="2706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TMP6131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568800" y="3279225"/>
            <a:ext cx="8520600" cy="17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</a:t>
            </a:r>
            <a:r>
              <a:rPr b="1" lang="en">
                <a:solidFill>
                  <a:schemeClr val="dk1"/>
                </a:solidFill>
              </a:rPr>
              <a:t>unction </a:t>
            </a:r>
            <a:r>
              <a:rPr lang="en">
                <a:solidFill>
                  <a:schemeClr val="dk1"/>
                </a:solidFill>
              </a:rPr>
              <a:t>: Linear PTC Temperature Sensor.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Resistance increases with temperature.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to monitor the temperature of the power stage.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Helps implement </a:t>
            </a:r>
            <a:r>
              <a:rPr b="1" lang="en">
                <a:solidFill>
                  <a:schemeClr val="dk1"/>
                </a:solidFill>
              </a:rPr>
              <a:t>Over-Temperature Protection (OTP)</a:t>
            </a:r>
            <a:r>
              <a:rPr lang="en">
                <a:solidFill>
                  <a:schemeClr val="dk1"/>
                </a:solidFill>
              </a:rPr>
              <a:t>.</a:t>
            </a:r>
            <a:r>
              <a:rPr lang="en" sz="2500">
                <a:solidFill>
                  <a:schemeClr val="dk1"/>
                </a:solidFill>
              </a:rPr>
              <a:t> </a:t>
            </a:r>
            <a:r>
              <a:rPr lang="en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UCD3138A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Function</a:t>
            </a:r>
            <a:r>
              <a:rPr lang="en" sz="2000">
                <a:solidFill>
                  <a:schemeClr val="dk1"/>
                </a:solidFill>
              </a:rPr>
              <a:t> : </a:t>
            </a:r>
            <a:r>
              <a:rPr lang="en" sz="2000">
                <a:solidFill>
                  <a:schemeClr val="dk1"/>
                </a:solidFill>
              </a:rPr>
              <a:t>Digital</a:t>
            </a:r>
            <a:r>
              <a:rPr lang="en" sz="2000">
                <a:solidFill>
                  <a:schemeClr val="dk1"/>
                </a:solidFill>
              </a:rPr>
              <a:t> Power Supply Controller</a:t>
            </a:r>
            <a:endParaRPr sz="20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Acts as the </a:t>
            </a:r>
            <a:r>
              <a:rPr b="1" lang="en" sz="2100">
                <a:solidFill>
                  <a:schemeClr val="dk1"/>
                </a:solidFill>
              </a:rPr>
              <a:t>brain of the converter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Generates PWM signals for the GaN half-bridges.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Monitors VIN, VOUT, current, and temperature.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Implements UVLO, OVP, OCP, OTP, current balancing, and PMBus communication.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9275" y="1999050"/>
            <a:ext cx="269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20"/>
              <a:t>LAYOUT</a:t>
            </a:r>
            <a:endParaRPr b="1" sz="45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58550"/>
            <a:ext cx="4395200" cy="25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013" y="1304513"/>
            <a:ext cx="3019425" cy="200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20"/>
          <p:cNvCxnSpPr/>
          <p:nvPr/>
        </p:nvCxnSpPr>
        <p:spPr>
          <a:xfrm flipH="1" rot="10800000">
            <a:off x="1705775" y="1330600"/>
            <a:ext cx="4646400" cy="6282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20"/>
          <p:cNvCxnSpPr>
            <a:stCxn id="101" idx="3"/>
          </p:cNvCxnSpPr>
          <p:nvPr/>
        </p:nvCxnSpPr>
        <p:spPr>
          <a:xfrm flipH="1" rot="10800000">
            <a:off x="4048438" y="2202900"/>
            <a:ext cx="2403900" cy="1065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000" y="1516101"/>
            <a:ext cx="7539150" cy="355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3075" y="139300"/>
            <a:ext cx="4676544" cy="121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6800" y="1422200"/>
            <a:ext cx="4027699" cy="372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875" y="301001"/>
            <a:ext cx="4990799" cy="2047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22"/>
          <p:cNvCxnSpPr/>
          <p:nvPr/>
        </p:nvCxnSpPr>
        <p:spPr>
          <a:xfrm>
            <a:off x="4846825" y="1092125"/>
            <a:ext cx="2355900" cy="29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22"/>
          <p:cNvCxnSpPr/>
          <p:nvPr/>
        </p:nvCxnSpPr>
        <p:spPr>
          <a:xfrm>
            <a:off x="7202725" y="1121225"/>
            <a:ext cx="222300" cy="3088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22"/>
          <p:cNvCxnSpPr/>
          <p:nvPr/>
        </p:nvCxnSpPr>
        <p:spPr>
          <a:xfrm>
            <a:off x="7019425" y="100425"/>
            <a:ext cx="1518300" cy="185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2"/>
          <p:cNvCxnSpPr/>
          <p:nvPr/>
        </p:nvCxnSpPr>
        <p:spPr>
          <a:xfrm flipH="1" rot="10800000">
            <a:off x="1666500" y="100425"/>
            <a:ext cx="5536200" cy="23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2"/>
          <p:cNvCxnSpPr/>
          <p:nvPr/>
        </p:nvCxnSpPr>
        <p:spPr>
          <a:xfrm>
            <a:off x="4846825" y="2074350"/>
            <a:ext cx="458100" cy="497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2"/>
          <p:cNvCxnSpPr/>
          <p:nvPr/>
        </p:nvCxnSpPr>
        <p:spPr>
          <a:xfrm>
            <a:off x="3924150" y="1422200"/>
            <a:ext cx="1020900" cy="654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89325"/>
            <a:ext cx="4540924" cy="299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75" y="348700"/>
            <a:ext cx="4267201" cy="32505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3"/>
          <p:cNvCxnSpPr/>
          <p:nvPr/>
        </p:nvCxnSpPr>
        <p:spPr>
          <a:xfrm>
            <a:off x="4445776" y="1802759"/>
            <a:ext cx="2613000" cy="1857600"/>
          </a:xfrm>
          <a:prstGeom prst="bentConnector3">
            <a:avLst>
              <a:gd fmla="val 100497" name="adj1"/>
            </a:avLst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for another half bridge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3050" y="1152475"/>
            <a:ext cx="5277850" cy="349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6175" y="1867199"/>
            <a:ext cx="6697825" cy="3402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 rotWithShape="1">
          <a:blip r:embed="rId4">
            <a:alphaModFix/>
          </a:blip>
          <a:srcRect b="13170" l="3270" r="-3270" t="-13170"/>
          <a:stretch/>
        </p:blipFill>
        <p:spPr>
          <a:xfrm>
            <a:off x="1011225" y="0"/>
            <a:ext cx="2804969" cy="178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/>
        </p:nvSpPr>
        <p:spPr>
          <a:xfrm>
            <a:off x="606400" y="270475"/>
            <a:ext cx="6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SW1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606400" y="1405500"/>
            <a:ext cx="6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SW2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3" name="Google Shape;143;p25"/>
          <p:cNvCxnSpPr/>
          <p:nvPr/>
        </p:nvCxnSpPr>
        <p:spPr>
          <a:xfrm>
            <a:off x="1692675" y="1356775"/>
            <a:ext cx="667500" cy="128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38"/>
            <a:ext cx="9144001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2675" y="204750"/>
            <a:ext cx="4361392" cy="22669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26"/>
          <p:cNvCxnSpPr/>
          <p:nvPr/>
        </p:nvCxnSpPr>
        <p:spPr>
          <a:xfrm>
            <a:off x="5802225" y="1315350"/>
            <a:ext cx="1217100" cy="1991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6"/>
          <p:cNvCxnSpPr/>
          <p:nvPr/>
        </p:nvCxnSpPr>
        <p:spPr>
          <a:xfrm>
            <a:off x="5409625" y="1906450"/>
            <a:ext cx="288000" cy="929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6"/>
          <p:cNvCxnSpPr/>
          <p:nvPr/>
        </p:nvCxnSpPr>
        <p:spPr>
          <a:xfrm flipH="1">
            <a:off x="2517100" y="807075"/>
            <a:ext cx="1099500" cy="29970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777" y="1165550"/>
            <a:ext cx="5462875" cy="385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" y="-12"/>
            <a:ext cx="4305276" cy="3684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7"/>
          <p:cNvCxnSpPr/>
          <p:nvPr/>
        </p:nvCxnSpPr>
        <p:spPr>
          <a:xfrm>
            <a:off x="972850" y="283575"/>
            <a:ext cx="5339700" cy="837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7"/>
          <p:cNvCxnSpPr/>
          <p:nvPr/>
        </p:nvCxnSpPr>
        <p:spPr>
          <a:xfrm>
            <a:off x="488600" y="2037325"/>
            <a:ext cx="8493900" cy="272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7"/>
          <p:cNvCxnSpPr/>
          <p:nvPr/>
        </p:nvCxnSpPr>
        <p:spPr>
          <a:xfrm>
            <a:off x="418500" y="1613875"/>
            <a:ext cx="8682000" cy="2334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7"/>
          <p:cNvCxnSpPr/>
          <p:nvPr/>
        </p:nvCxnSpPr>
        <p:spPr>
          <a:xfrm>
            <a:off x="3590425" y="1893375"/>
            <a:ext cx="1452600" cy="7983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7"/>
          <p:cNvCxnSpPr/>
          <p:nvPr/>
        </p:nvCxnSpPr>
        <p:spPr>
          <a:xfrm>
            <a:off x="1483275" y="2927300"/>
            <a:ext cx="3245700" cy="2015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3850" y="274850"/>
            <a:ext cx="4000476" cy="44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64120"/>
            <a:ext cx="5155576" cy="1634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51" y="0"/>
            <a:ext cx="327014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 txBox="1"/>
          <p:nvPr/>
        </p:nvSpPr>
        <p:spPr>
          <a:xfrm>
            <a:off x="4702875" y="584575"/>
            <a:ext cx="329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5V is generated using IC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76" name="Google Shape;176;p29"/>
          <p:cNvCxnSpPr>
            <a:stCxn id="175" idx="1"/>
          </p:cNvCxnSpPr>
          <p:nvPr/>
        </p:nvCxnSpPr>
        <p:spPr>
          <a:xfrm rot="10800000">
            <a:off x="1182375" y="650125"/>
            <a:ext cx="3520500" cy="165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9"/>
          <p:cNvCxnSpPr/>
          <p:nvPr/>
        </p:nvCxnSpPr>
        <p:spPr>
          <a:xfrm flipH="1" rot="10800000">
            <a:off x="947576" y="1867300"/>
            <a:ext cx="4605900" cy="63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lgDashDot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9"/>
          <p:cNvCxnSpPr/>
          <p:nvPr/>
        </p:nvCxnSpPr>
        <p:spPr>
          <a:xfrm flipH="1" rot="10800000">
            <a:off x="2543400" y="1854075"/>
            <a:ext cx="3010200" cy="562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lgDashDot"/>
            <a:round/>
            <a:headEnd len="med" w="med" type="none"/>
            <a:tailEnd len="med" w="med" type="triangle"/>
          </a:ln>
        </p:spPr>
      </p:cxnSp>
      <p:sp>
        <p:nvSpPr>
          <p:cNvPr id="179" name="Google Shape;179;p29"/>
          <p:cNvSpPr txBox="1"/>
          <p:nvPr/>
        </p:nvSpPr>
        <p:spPr>
          <a:xfrm>
            <a:off x="5645225" y="1670850"/>
            <a:ext cx="326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It is given to U2 and U4 here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50"/>
            <a:ext cx="5300551" cy="266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0"/>
          <p:cNvPicPr preferRelativeResize="0"/>
          <p:nvPr/>
        </p:nvPicPr>
        <p:blipFill rotWithShape="1">
          <a:blip r:embed="rId4">
            <a:alphaModFix/>
          </a:blip>
          <a:srcRect b="-2950" l="6400" r="-6400" t="2950"/>
          <a:stretch/>
        </p:blipFill>
        <p:spPr>
          <a:xfrm>
            <a:off x="274850" y="78525"/>
            <a:ext cx="4091478" cy="266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4525" y="386350"/>
            <a:ext cx="5205250" cy="1751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30"/>
          <p:cNvCxnSpPr/>
          <p:nvPr/>
        </p:nvCxnSpPr>
        <p:spPr>
          <a:xfrm flipH="1" rot="10800000">
            <a:off x="2726625" y="1118075"/>
            <a:ext cx="5496900" cy="2880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30"/>
          <p:cNvCxnSpPr/>
          <p:nvPr/>
        </p:nvCxnSpPr>
        <p:spPr>
          <a:xfrm flipH="1" rot="10800000">
            <a:off x="5252575" y="911825"/>
            <a:ext cx="3599100" cy="38085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30"/>
          <p:cNvCxnSpPr/>
          <p:nvPr/>
        </p:nvCxnSpPr>
        <p:spPr>
          <a:xfrm flipH="1" rot="10800000">
            <a:off x="1627250" y="898800"/>
            <a:ext cx="3088800" cy="3415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30"/>
          <p:cNvCxnSpPr/>
          <p:nvPr/>
        </p:nvCxnSpPr>
        <p:spPr>
          <a:xfrm flipH="1" rot="10800000">
            <a:off x="1561800" y="1016450"/>
            <a:ext cx="3415800" cy="2067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725" y="0"/>
            <a:ext cx="3283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/>
        </p:nvSpPr>
        <p:spPr>
          <a:xfrm>
            <a:off x="4572000" y="754750"/>
            <a:ext cx="394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3.3V routed from IC to the current sense amplifier and output</a:t>
            </a:r>
            <a:endParaRPr b="1" sz="1800">
              <a:solidFill>
                <a:schemeClr val="dk1"/>
              </a:solidFill>
            </a:endParaRPr>
          </a:p>
        </p:txBody>
      </p:sp>
      <p:cxnSp>
        <p:nvCxnSpPr>
          <p:cNvPr id="197" name="Google Shape;197;p31"/>
          <p:cNvCxnSpPr/>
          <p:nvPr/>
        </p:nvCxnSpPr>
        <p:spPr>
          <a:xfrm flipH="1" rot="10800000">
            <a:off x="2595750" y="2351300"/>
            <a:ext cx="2578200" cy="785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31"/>
          <p:cNvCxnSpPr/>
          <p:nvPr/>
        </p:nvCxnSpPr>
        <p:spPr>
          <a:xfrm flipH="1" rot="10800000">
            <a:off x="2870600" y="2259700"/>
            <a:ext cx="2238000" cy="13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99" name="Google Shape;199;p31"/>
          <p:cNvSpPr txBox="1"/>
          <p:nvPr/>
        </p:nvSpPr>
        <p:spPr>
          <a:xfrm>
            <a:off x="5173950" y="2035450"/>
            <a:ext cx="346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Current Sense Amplifier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00" name="Google Shape;200;p31"/>
          <p:cNvCxnSpPr/>
          <p:nvPr/>
        </p:nvCxnSpPr>
        <p:spPr>
          <a:xfrm flipH="1" rot="10800000">
            <a:off x="1574900" y="3162850"/>
            <a:ext cx="3834600" cy="1858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ashDot"/>
            <a:round/>
            <a:headEnd len="med" w="med" type="none"/>
            <a:tailEnd len="med" w="med" type="triangle"/>
          </a:ln>
        </p:spPr>
      </p:cxnSp>
      <p:sp>
        <p:nvSpPr>
          <p:cNvPr id="201" name="Google Shape;201;p31"/>
          <p:cNvSpPr txBox="1"/>
          <p:nvPr/>
        </p:nvSpPr>
        <p:spPr>
          <a:xfrm>
            <a:off x="5344175" y="2953475"/>
            <a:ext cx="381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Output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32"/>
          <p:cNvGrpSpPr/>
          <p:nvPr/>
        </p:nvGrpSpPr>
        <p:grpSpPr>
          <a:xfrm>
            <a:off x="7" y="0"/>
            <a:ext cx="3253386" cy="5143500"/>
            <a:chOff x="2945307" y="117775"/>
            <a:chExt cx="3253386" cy="5143500"/>
          </a:xfrm>
        </p:grpSpPr>
        <p:pic>
          <p:nvPicPr>
            <p:cNvPr id="207" name="Google Shape;20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45307" y="117775"/>
              <a:ext cx="3253386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32"/>
            <p:cNvSpPr/>
            <p:nvPr/>
          </p:nvSpPr>
          <p:spPr>
            <a:xfrm>
              <a:off x="5265650" y="492975"/>
              <a:ext cx="628225" cy="3062550"/>
            </a:xfrm>
            <a:custGeom>
              <a:rect b="b" l="l" r="r" t="t"/>
              <a:pathLst>
                <a:path extrusionOk="0" h="122502" w="25129">
                  <a:moveTo>
                    <a:pt x="0" y="0"/>
                  </a:moveTo>
                  <a:cubicBezTo>
                    <a:pt x="730" y="8024"/>
                    <a:pt x="3185" y="16124"/>
                    <a:pt x="7329" y="23034"/>
                  </a:cubicBezTo>
                  <a:cubicBezTo>
                    <a:pt x="10219" y="27854"/>
                    <a:pt x="15912" y="31194"/>
                    <a:pt x="17276" y="36646"/>
                  </a:cubicBezTo>
                  <a:cubicBezTo>
                    <a:pt x="19140" y="44096"/>
                    <a:pt x="14362" y="52812"/>
                    <a:pt x="17799" y="59680"/>
                  </a:cubicBezTo>
                  <a:cubicBezTo>
                    <a:pt x="22611" y="69295"/>
                    <a:pt x="25129" y="80339"/>
                    <a:pt x="25129" y="91091"/>
                  </a:cubicBezTo>
                  <a:cubicBezTo>
                    <a:pt x="25129" y="97804"/>
                    <a:pt x="10820" y="90507"/>
                    <a:pt x="5235" y="94232"/>
                  </a:cubicBezTo>
                  <a:cubicBezTo>
                    <a:pt x="2038" y="96364"/>
                    <a:pt x="2312" y="102748"/>
                    <a:pt x="4712" y="105749"/>
                  </a:cubicBezTo>
                  <a:cubicBezTo>
                    <a:pt x="7873" y="109701"/>
                    <a:pt x="13442" y="111693"/>
                    <a:pt x="15705" y="116219"/>
                  </a:cubicBezTo>
                  <a:cubicBezTo>
                    <a:pt x="16486" y="117780"/>
                    <a:pt x="16673" y="120003"/>
                    <a:pt x="15705" y="121455"/>
                  </a:cubicBezTo>
                  <a:cubicBezTo>
                    <a:pt x="14708" y="122950"/>
                    <a:pt x="14792" y="117312"/>
                    <a:pt x="13088" y="116743"/>
                  </a:cubicBezTo>
                  <a:cubicBezTo>
                    <a:pt x="11201" y="116113"/>
                    <a:pt x="12668" y="122502"/>
                    <a:pt x="14658" y="122502"/>
                  </a:cubicBezTo>
                </a:path>
              </a:pathLst>
            </a:custGeom>
            <a:noFill/>
            <a:ln cap="flat" cmpd="sng" w="28575">
              <a:solidFill>
                <a:srgbClr val="00FF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9" name="Google Shape;209;p32"/>
            <p:cNvSpPr/>
            <p:nvPr/>
          </p:nvSpPr>
          <p:spPr>
            <a:xfrm>
              <a:off x="3782524" y="401350"/>
              <a:ext cx="1051225" cy="3206525"/>
            </a:xfrm>
            <a:custGeom>
              <a:rect b="b" l="l" r="r" t="t"/>
              <a:pathLst>
                <a:path extrusionOk="0" h="128261" w="42049">
                  <a:moveTo>
                    <a:pt x="42049" y="0"/>
                  </a:moveTo>
                  <a:cubicBezTo>
                    <a:pt x="37717" y="7224"/>
                    <a:pt x="34908" y="16296"/>
                    <a:pt x="36291" y="24605"/>
                  </a:cubicBezTo>
                  <a:cubicBezTo>
                    <a:pt x="37210" y="30124"/>
                    <a:pt x="39416" y="36163"/>
                    <a:pt x="37338" y="41358"/>
                  </a:cubicBezTo>
                  <a:cubicBezTo>
                    <a:pt x="35825" y="45140"/>
                    <a:pt x="31221" y="46868"/>
                    <a:pt x="28961" y="50257"/>
                  </a:cubicBezTo>
                  <a:cubicBezTo>
                    <a:pt x="25766" y="55048"/>
                    <a:pt x="31536" y="62382"/>
                    <a:pt x="28961" y="67533"/>
                  </a:cubicBezTo>
                  <a:cubicBezTo>
                    <a:pt x="25599" y="74257"/>
                    <a:pt x="23377" y="81494"/>
                    <a:pt x="20585" y="88474"/>
                  </a:cubicBezTo>
                  <a:cubicBezTo>
                    <a:pt x="19669" y="90765"/>
                    <a:pt x="21283" y="94058"/>
                    <a:pt x="19538" y="95803"/>
                  </a:cubicBezTo>
                  <a:cubicBezTo>
                    <a:pt x="15804" y="99537"/>
                    <a:pt x="8228" y="94968"/>
                    <a:pt x="3833" y="97897"/>
                  </a:cubicBezTo>
                  <a:cubicBezTo>
                    <a:pt x="-1138" y="101210"/>
                    <a:pt x="-480" y="110150"/>
                    <a:pt x="1739" y="115696"/>
                  </a:cubicBezTo>
                  <a:cubicBezTo>
                    <a:pt x="3829" y="120921"/>
                    <a:pt x="10937" y="122708"/>
                    <a:pt x="16397" y="124073"/>
                  </a:cubicBezTo>
                  <a:cubicBezTo>
                    <a:pt x="17762" y="124414"/>
                    <a:pt x="17084" y="127737"/>
                    <a:pt x="18491" y="127737"/>
                  </a:cubicBezTo>
                  <a:cubicBezTo>
                    <a:pt x="19761" y="127737"/>
                    <a:pt x="18640" y="124971"/>
                    <a:pt x="19538" y="124073"/>
                  </a:cubicBezTo>
                  <a:cubicBezTo>
                    <a:pt x="20533" y="123078"/>
                    <a:pt x="19015" y="126854"/>
                    <a:pt x="19015" y="128261"/>
                  </a:cubicBezTo>
                </a:path>
              </a:pathLst>
            </a:custGeom>
            <a:noFill/>
            <a:ln cap="flat" cmpd="sng" w="28575">
              <a:solidFill>
                <a:srgbClr val="00FF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0" name="Google Shape;210;p32"/>
            <p:cNvSpPr/>
            <p:nvPr/>
          </p:nvSpPr>
          <p:spPr>
            <a:xfrm>
              <a:off x="3515006" y="3686400"/>
              <a:ext cx="742875" cy="791100"/>
            </a:xfrm>
            <a:custGeom>
              <a:rect b="b" l="l" r="r" t="t"/>
              <a:pathLst>
                <a:path extrusionOk="0" h="31644" w="29715">
                  <a:moveTo>
                    <a:pt x="29716" y="0"/>
                  </a:moveTo>
                  <a:cubicBezTo>
                    <a:pt x="25075" y="9281"/>
                    <a:pt x="14018" y="13603"/>
                    <a:pt x="6681" y="20940"/>
                  </a:cubicBezTo>
                  <a:cubicBezTo>
                    <a:pt x="3975" y="23646"/>
                    <a:pt x="4676" y="28704"/>
                    <a:pt x="1970" y="31410"/>
                  </a:cubicBezTo>
                  <a:cubicBezTo>
                    <a:pt x="1030" y="32350"/>
                    <a:pt x="-398" y="28809"/>
                    <a:pt x="399" y="27746"/>
                  </a:cubicBezTo>
                  <a:cubicBezTo>
                    <a:pt x="1036" y="26897"/>
                    <a:pt x="3066" y="26272"/>
                    <a:pt x="3540" y="27222"/>
                  </a:cubicBezTo>
                </a:path>
              </a:pathLst>
            </a:custGeom>
            <a:noFill/>
            <a:ln cap="flat" cmpd="sng" w="28575">
              <a:solidFill>
                <a:srgbClr val="00FF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1" name="Google Shape;211;p32"/>
            <p:cNvSpPr/>
            <p:nvPr/>
          </p:nvSpPr>
          <p:spPr>
            <a:xfrm>
              <a:off x="4710285" y="3682950"/>
              <a:ext cx="934900" cy="798000"/>
            </a:xfrm>
            <a:custGeom>
              <a:rect b="b" l="l" r="r" t="t"/>
              <a:pathLst>
                <a:path extrusionOk="0" h="31920" w="37396">
                  <a:moveTo>
                    <a:pt x="37397" y="0"/>
                  </a:moveTo>
                  <a:cubicBezTo>
                    <a:pt x="33355" y="6351"/>
                    <a:pt x="27519" y="11663"/>
                    <a:pt x="21168" y="15705"/>
                  </a:cubicBezTo>
                  <a:cubicBezTo>
                    <a:pt x="16489" y="18683"/>
                    <a:pt x="10246" y="18960"/>
                    <a:pt x="5986" y="22511"/>
                  </a:cubicBezTo>
                  <a:cubicBezTo>
                    <a:pt x="3342" y="24714"/>
                    <a:pt x="-1683" y="28976"/>
                    <a:pt x="751" y="31410"/>
                  </a:cubicBezTo>
                  <a:cubicBezTo>
                    <a:pt x="3446" y="34105"/>
                    <a:pt x="10039" y="24861"/>
                    <a:pt x="11745" y="28269"/>
                  </a:cubicBezTo>
                </a:path>
              </a:pathLst>
            </a:custGeom>
            <a:noFill/>
            <a:ln cap="flat" cmpd="sng" w="28575">
              <a:solidFill>
                <a:srgbClr val="00FF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12" name="Google Shape;212;p32"/>
          <p:cNvGrpSpPr/>
          <p:nvPr/>
        </p:nvGrpSpPr>
        <p:grpSpPr>
          <a:xfrm>
            <a:off x="3381050" y="15500"/>
            <a:ext cx="3253401" cy="5112482"/>
            <a:chOff x="5396550" y="15513"/>
            <a:chExt cx="3253401" cy="5112482"/>
          </a:xfrm>
        </p:grpSpPr>
        <p:pic>
          <p:nvPicPr>
            <p:cNvPr id="213" name="Google Shape;21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96550" y="15513"/>
              <a:ext cx="3253401" cy="5112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32"/>
            <p:cNvSpPr/>
            <p:nvPr/>
          </p:nvSpPr>
          <p:spPr>
            <a:xfrm>
              <a:off x="6155625" y="4186565"/>
              <a:ext cx="2165425" cy="662450"/>
            </a:xfrm>
            <a:custGeom>
              <a:rect b="b" l="l" r="r" t="t"/>
              <a:pathLst>
                <a:path extrusionOk="0" h="26498" w="86617">
                  <a:moveTo>
                    <a:pt x="0" y="410"/>
                  </a:moveTo>
                  <a:cubicBezTo>
                    <a:pt x="19034" y="410"/>
                    <a:pt x="38399" y="-1232"/>
                    <a:pt x="57063" y="2504"/>
                  </a:cubicBezTo>
                  <a:cubicBezTo>
                    <a:pt x="64423" y="3977"/>
                    <a:pt x="72861" y="-1377"/>
                    <a:pt x="79574" y="1980"/>
                  </a:cubicBezTo>
                  <a:cubicBezTo>
                    <a:pt x="83485" y="3936"/>
                    <a:pt x="88281" y="9858"/>
                    <a:pt x="85856" y="13497"/>
                  </a:cubicBezTo>
                  <a:cubicBezTo>
                    <a:pt x="84617" y="15357"/>
                    <a:pt x="81620" y="15687"/>
                    <a:pt x="80621" y="17686"/>
                  </a:cubicBezTo>
                  <a:cubicBezTo>
                    <a:pt x="79106" y="20717"/>
                    <a:pt x="78008" y="24804"/>
                    <a:pt x="74862" y="26062"/>
                  </a:cubicBezTo>
                  <a:cubicBezTo>
                    <a:pt x="71079" y="27575"/>
                    <a:pt x="66895" y="23968"/>
                    <a:pt x="62821" y="23968"/>
                  </a:cubicBezTo>
                </a:path>
              </a:pathLst>
            </a:custGeom>
            <a:noFill/>
            <a:ln cap="flat" cmpd="sng" w="28575">
              <a:solidFill>
                <a:srgbClr val="00FF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15" name="Google Shape;215;p32"/>
          <p:cNvSpPr txBox="1"/>
          <p:nvPr/>
        </p:nvSpPr>
        <p:spPr>
          <a:xfrm>
            <a:off x="6888525" y="2333225"/>
            <a:ext cx="196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Current Flow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