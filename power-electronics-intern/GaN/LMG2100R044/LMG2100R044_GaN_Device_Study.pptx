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1160aef6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1160aef6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1160aef6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1160aef6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1160aef6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1160aef6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1160aef6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1160aef6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1160aef6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1160aef6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1160aef6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1160aef6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ti.com/product/LMG2100R044" TargetMode="External"/><Relationship Id="rId4" Type="http://schemas.openxmlformats.org/officeDocument/2006/relationships/hyperlink" Target="https://www.ti.com/lit/ds/symlink/lmg2100r044.pdf?ts=1781319325488&amp;ref_url=https%253A%252F%252Fwww.ti.com%252Fproduct%252FLMG2100R044%253FkeyMatch%253DLMG2100R044%2526tisearch%253Duniversal_search" TargetMode="External"/><Relationship Id="rId5" Type="http://schemas.openxmlformats.org/officeDocument/2006/relationships/hyperlink" Target="https://www.ti.com/lit/ds/symlink/lmg2100r044.pdf?ts=1781319325488&amp;ref_url=https%253A%252F%252Fwww.ti.com%252Fproduct%252FLMG2100R044%253FkeyMatch%253DLMG2100R044%2526tisearch%253Duniversal_search" TargetMode="External"/><Relationship Id="rId6" Type="http://schemas.openxmlformats.org/officeDocument/2006/relationships/hyperlink" Target="https://www.ti.com/lit/ds/symlink/lmg2100r044.pdf?ts=1781319325488&amp;ref_url=https%253A%252F%252Fwww.ti.com%252Fproduct%252FLMG2100R044%253FkeyMatch%253DLMG2100R044%2526tisearch%253Duniversal_search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150">
                <a:highlight>
                  <a:schemeClr val="lt1"/>
                </a:highlight>
              </a:rPr>
              <a:t>LMG2100R044</a:t>
            </a:r>
            <a:r>
              <a:rPr lang="en">
                <a:highlight>
                  <a:schemeClr val="lt1"/>
                </a:highlight>
              </a:rPr>
              <a:t> </a:t>
            </a:r>
            <a:endParaRPr sz="9300">
              <a:highlight>
                <a:schemeClr val="lt1"/>
              </a:highlight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916200" y="2888025"/>
            <a:ext cx="80403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https://www.ti.com/product/LMG2100R044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https://www.ti.com/lit/ds/symlink/lmg2100r044.pdf?ts=1781319325488&amp;ref_url=https%253A%252F%252Fwww.ti.com%252Fproduct%</a:t>
            </a:r>
            <a:r>
              <a:rPr lang="en" sz="1800" u="sng">
                <a:solidFill>
                  <a:schemeClr val="hlink"/>
                </a:solidFill>
                <a:hlinkClick r:id="rId5"/>
              </a:rPr>
              <a:t>252FLMG2100R044</a:t>
            </a:r>
            <a:r>
              <a:rPr lang="en" sz="1800" u="sng">
                <a:solidFill>
                  <a:schemeClr val="hlink"/>
                </a:solidFill>
                <a:hlinkClick r:id="rId6"/>
              </a:rPr>
              <a:t>%253FkeyMatch%253DLMG2100R044%2526tisearch%253Duniversal_search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494950" y="340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920"/>
              <a:t>Description</a:t>
            </a:r>
            <a:endParaRPr b="1" sz="292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714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600">
                <a:solidFill>
                  <a:schemeClr val="dk1"/>
                </a:solidFill>
              </a:rPr>
              <a:t>Supports 90 V continuous operation and 100 V pulsed operation.</a:t>
            </a:r>
            <a:endParaRPr sz="3600">
              <a:solidFill>
                <a:schemeClr val="dk1"/>
              </a:solidFill>
            </a:endParaRPr>
          </a:p>
          <a:p>
            <a:pPr indent="-3714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600">
                <a:solidFill>
                  <a:schemeClr val="dk1"/>
                </a:solidFill>
              </a:rPr>
              <a:t>Integrated 4.4 mΩ high-side and low-side GaN FETs. </a:t>
            </a:r>
            <a:endParaRPr sz="3600">
              <a:solidFill>
                <a:schemeClr val="dk1"/>
              </a:solidFill>
            </a:endParaRPr>
          </a:p>
          <a:p>
            <a:pPr indent="-3714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600">
                <a:solidFill>
                  <a:schemeClr val="dk1"/>
                </a:solidFill>
              </a:rPr>
              <a:t>Built-in high-side and low-side gate drivers.</a:t>
            </a:r>
            <a:endParaRPr sz="3600">
              <a:solidFill>
                <a:schemeClr val="dk1"/>
              </a:solidFill>
            </a:endParaRPr>
          </a:p>
          <a:p>
            <a:pPr indent="-3714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600">
                <a:solidFill>
                  <a:schemeClr val="dk1"/>
                </a:solidFill>
              </a:rPr>
              <a:t>Supports 3.3 V and 5 V logic inputs.</a:t>
            </a:r>
            <a:endParaRPr sz="3600">
              <a:solidFill>
                <a:schemeClr val="dk1"/>
              </a:solidFill>
            </a:endParaRPr>
          </a:p>
          <a:p>
            <a:pPr indent="-3714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600">
                <a:solidFill>
                  <a:schemeClr val="dk1"/>
                </a:solidFill>
              </a:rPr>
              <a:t>Built-in UVLO (Under Voltage Lockout) protection. </a:t>
            </a:r>
            <a:endParaRPr sz="3600">
              <a:solidFill>
                <a:schemeClr val="dk1"/>
              </a:solidFill>
            </a:endParaRPr>
          </a:p>
          <a:p>
            <a:pPr indent="-3714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600">
                <a:solidFill>
                  <a:schemeClr val="dk1"/>
                </a:solidFill>
              </a:rPr>
              <a:t>Zero reverse recovery charge (QRR = 0).</a:t>
            </a:r>
            <a:endParaRPr sz="3600">
              <a:solidFill>
                <a:schemeClr val="dk1"/>
              </a:solidFill>
            </a:endParaRPr>
          </a:p>
          <a:p>
            <a:pPr indent="-3714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600">
                <a:solidFill>
                  <a:schemeClr val="dk1"/>
                </a:solidFill>
              </a:rPr>
              <a:t>Low input capacitance (CISS) and output capacitance (COSS).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920"/>
              <a:t>Internal Functional Blocks</a:t>
            </a:r>
            <a:endParaRPr b="1" sz="292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High-side GaN FET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Low-side GaN FET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High-side gate driver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Low-side gate driver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Bootstrap circuit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UVLO protection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Gate voltage clamp circuit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157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920"/>
              <a:t>Pin Configuration</a:t>
            </a:r>
            <a:endParaRPr b="1" sz="2920"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4975" y="898700"/>
            <a:ext cx="6021176" cy="414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299" y="340325"/>
            <a:ext cx="6763438" cy="4698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5925" y="290000"/>
            <a:ext cx="7080000" cy="456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183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 from </a:t>
            </a:r>
            <a:r>
              <a:rPr lang="en" sz="4120"/>
              <a:t>LMG3100R017</a:t>
            </a:r>
            <a:endParaRPr/>
          </a:p>
        </p:txBody>
      </p:sp>
      <p:pic>
        <p:nvPicPr>
          <p:cNvPr id="89" name="Google Shape;8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68108"/>
            <a:ext cx="9144000" cy="3207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